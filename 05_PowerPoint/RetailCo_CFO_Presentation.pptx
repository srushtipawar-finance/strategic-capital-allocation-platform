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59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1760220"/>
          </a:xfrm>
          <a:prstGeom prst="rect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338328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Capital Allocation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Portfolio Optimisation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432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Finance Platform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493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 ·  $5M Investment Budget  ·  8 Proposals Evaluated  ·  255 Combinations Tested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8221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Srushti Mahant Pawar  ·  Strategic Finance Analyst  ·  10 June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 Draft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Recommendation — FY2024 Capital Allocation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69264"/>
            <a:ext cx="2011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$738,950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497056"/>
            <a:ext cx="2011680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Portfolio NPV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91440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2F5496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95728" y="969264"/>
            <a:ext cx="2011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95728" y="1497056"/>
            <a:ext cx="2011680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Utilisation — $4.4M of $5M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17136" y="91440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E7145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17136" y="969264"/>
            <a:ext cx="2011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17136" y="1497056"/>
            <a:ext cx="2011680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Funded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38544" y="91440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C65911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38544" y="969264"/>
            <a:ext cx="2011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38544" y="1497056"/>
            <a:ext cx="2011680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vs Greedy Ranking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029968"/>
            <a:ext cx="8595360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2103120"/>
            <a:ext cx="8302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CFO-Level Recommendation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2304288"/>
            <a:ext cx="8302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$4,400,000 across 5 investments generating a verified portfolio NPV of $738,950. Brute-force optimisation across all 255 combinations confirms this is the maximum-value portfolio within the $5M constraint — $54,130 ahead of simple NPV ranking. The portfolio is risk-diversified: 4 of 5 investments score below 8.0/10 on the composite risk scale. Monte Carlo (40,000 runs) confirms &gt;84% probability of positive NPV at base case. Geographic Expansion and Strategic Acquisition are included because they deliver the two largest NPV contributions in the optimiser model — no alternative combination beats $738,950 within budget.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2CC"/>
          </a:solidFill>
          <a:ln w="9525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3200400"/>
            <a:ext cx="8339328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 ranks #1 on every advanced metric (PI, NPV per dollar, risk-adjusted NPV) despite placing #7 on raw NPV. This is invisible without composite scoring — and confirms why multi-factor analysis is essential for capital allocation.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1627632" cy="256032"/>
          </a:xfrm>
          <a:prstGeom prst="roundRect">
            <a:avLst>
              <a:gd name="adj" fmla="val 28571"/>
            </a:avLst>
          </a:prstGeom>
          <a:solidFill>
            <a:srgbClr val="E2EFDA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7490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DCF Model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993392" y="3749040"/>
            <a:ext cx="1627632" cy="256032"/>
          </a:xfrm>
          <a:prstGeom prst="roundRect">
            <a:avLst>
              <a:gd name="adj" fmla="val 28571"/>
            </a:avLst>
          </a:prstGeom>
          <a:solidFill>
            <a:srgbClr val="E2EFDA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93392" y="37490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7 Queries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712464" y="3749040"/>
            <a:ext cx="1627632" cy="256032"/>
          </a:xfrm>
          <a:prstGeom prst="roundRect">
            <a:avLst>
              <a:gd name="adj" fmla="val 28571"/>
            </a:avLst>
          </a:prstGeom>
          <a:solidFill>
            <a:srgbClr val="E2EFDA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12464" y="37490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4 Scripts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31536" y="3749040"/>
            <a:ext cx="1627632" cy="256032"/>
          </a:xfrm>
          <a:prstGeom prst="roundRect">
            <a:avLst>
              <a:gd name="adj" fmla="val 28571"/>
            </a:avLst>
          </a:prstGeom>
          <a:solidFill>
            <a:srgbClr val="E2EFDA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31536" y="37490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 40K Sims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50608" y="3749040"/>
            <a:ext cx="1627632" cy="256032"/>
          </a:xfrm>
          <a:prstGeom prst="roundRect">
            <a:avLst>
              <a:gd name="adj" fmla="val 28571"/>
            </a:avLst>
          </a:prstGeom>
          <a:solidFill>
            <a:srgbClr val="E2EFDA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50608" y="37490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5 Pages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 Statement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$1.7M budget shortfall demands mathematical optimisation — not intuition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3493008" cy="3529584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0584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— Company Profile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3346704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98448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59152" y="1298448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636776"/>
            <a:ext cx="3346704" cy="310896"/>
          </a:xfrm>
          <a:prstGeom prst="rect">
            <a:avLst/>
          </a:prstGeom>
          <a:solidFill>
            <a:srgbClr val="F4F6FA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1636776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59152" y="1636776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$16.8M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1975104"/>
            <a:ext cx="3346704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1975104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Budget FY2024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59152" y="1975104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$5,000,000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313432"/>
            <a:ext cx="3346704" cy="310896"/>
          </a:xfrm>
          <a:prstGeom prst="rect">
            <a:avLst/>
          </a:prstGeom>
          <a:solidFill>
            <a:srgbClr val="F4F6FA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313432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59152" y="2313432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$6,700,000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651760"/>
            <a:ext cx="3346704" cy="310896"/>
          </a:xfrm>
          <a:prstGeom prst="rect">
            <a:avLst/>
          </a:prstGeom>
          <a:solidFill>
            <a:srgbClr val="FDECEA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2651760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Shortfall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59152" y="2651760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$1,700,000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2990088"/>
            <a:ext cx="3346704" cy="310896"/>
          </a:xfrm>
          <a:prstGeom prst="rect">
            <a:avLst/>
          </a:prstGeom>
          <a:solidFill>
            <a:srgbClr val="F4F6FA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2990088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(Hurdle Rate)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59152" y="2990088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3328416"/>
            <a:ext cx="3346704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328416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Tax Rate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359152" y="3328416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3659710"/>
            <a:ext cx="3346704" cy="310896"/>
          </a:xfrm>
          <a:prstGeom prst="rect">
            <a:avLst/>
          </a:prstGeom>
          <a:solidFill>
            <a:srgbClr val="F4F6FA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3666744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Horizon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59152" y="3666744"/>
            <a:ext cx="12435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31920" y="93268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1243584"/>
            <a:ext cx="4919472" cy="4572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95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59936" y="1243584"/>
            <a:ext cx="4663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proposals totalling $6.7M compete for only $5M — $1.7M must be left unfunded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31920" y="1792224"/>
            <a:ext cx="4919472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9525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59936" y="1792224"/>
            <a:ext cx="4663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NPV ranking produces sub-optimal allocation, leaving $54,130 on the table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31920" y="2340864"/>
            <a:ext cx="4919472" cy="457200"/>
          </a:xfrm>
          <a:prstGeom prst="roundRect">
            <a:avLst>
              <a:gd name="adj" fmla="val 12000"/>
            </a:avLst>
          </a:prstGeom>
          <a:solidFill>
            <a:srgbClr val="D6E4F7"/>
          </a:solidFill>
          <a:ln w="9525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59936" y="2340864"/>
            <a:ext cx="4663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returns differ materially from raw NPV — invisible without scoring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0" y="2889504"/>
            <a:ext cx="4919472" cy="4572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95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59936" y="2889504"/>
            <a:ext cx="4663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8 investments have &lt;40% probability of positive NPV — Monte Carlo reveals this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31920" y="3474720"/>
            <a:ext cx="4919472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59936" y="35478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59936" y="37307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of 8 investments maximises total portfolio NPV within a strict $5,000,000 budget constraint?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Five-Tool Analytical Framework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answered a specific question — together they guarantee a defensible, mathematically optimal recommendation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25196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1430">
            <a:solidFill>
              <a:srgbClr val="2F5496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1042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976" y="10515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DCF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280160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12-tab financial model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64008" cy="64008"/>
          </a:xfrm>
          <a:prstGeom prst="ellipse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" y="15087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IRR, Payback, ROI for all 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64008" cy="64008"/>
          </a:xfrm>
          <a:prstGeom prst="ellipse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" y="17830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PI, NPV per Dollar, Risk-Adj NPV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64008" cy="64008"/>
          </a:xfrm>
          <a:prstGeom prst="ellipse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" y="20574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Scenario Analysis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64008" cy="64008"/>
          </a:xfrm>
          <a:prstGeom prst="ellipse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" y="23317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+ charts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932688"/>
            <a:ext cx="425196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1430">
            <a:solidFill>
              <a:srgbClr val="1E714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1042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85816" y="10515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85816" y="1280160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  ·  7 business queries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92040" y="1554480"/>
            <a:ext cx="64008" cy="64008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0056" y="15087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pipeline overview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1828800"/>
            <a:ext cx="64008" cy="64008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0056" y="17830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ranking query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92040" y="2103120"/>
            <a:ext cx="64008" cy="64008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0056" y="20574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constraint analysis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2377440"/>
            <a:ext cx="64008" cy="64008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0056" y="23317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CFO summary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907792"/>
            <a:ext cx="425196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1430">
            <a:solidFill>
              <a:srgbClr val="C65911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2336" y="3017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233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50976" y="302666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4 Scripts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0976" y="3255264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· Risk · Monte Carlo · Optimiser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529584"/>
            <a:ext cx="64008" cy="64008"/>
          </a:xfrm>
          <a:prstGeom prst="ellipse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6" y="3483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sims × 8 = 40,000 total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803904"/>
            <a:ext cx="64008" cy="64008"/>
          </a:xfrm>
          <a:prstGeom prst="ellipse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5216" y="37581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3-factor risk model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078224"/>
            <a:ext cx="64008" cy="64008"/>
          </a:xfrm>
          <a:prstGeom prst="ellipse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5216" y="403250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255-combination brute-force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352544"/>
            <a:ext cx="64008" cy="64008"/>
          </a:xfrm>
          <a:prstGeom prst="ellipse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5216" y="430682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and NPV/$ rankings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2907792"/>
            <a:ext cx="425196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37176" y="3017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3717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385816" y="302666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85816" y="3255264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suite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92040" y="3529584"/>
            <a:ext cx="64008" cy="640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0056" y="3483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KPI cards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92040" y="3803904"/>
            <a:ext cx="64008" cy="640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0056" y="37581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 + Monte Carlo page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92040" y="4078224"/>
            <a:ext cx="64008" cy="640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0056" y="403250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 comparison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92040" y="4352544"/>
            <a:ext cx="64008" cy="640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0056" y="430682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Bear/Base/Bull scenario view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Pipeline — 8 Proposals Evaluated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pipeline: $6,700,000  ·  Budget: $5,000,000  ·  Shortfall: $1,700,000  ·  WACC = 10%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50976"/>
            <a:ext cx="2066544" cy="274320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5097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40864" y="950976"/>
            <a:ext cx="1133856" cy="274320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86584" y="95097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($)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950976"/>
            <a:ext cx="1133856" cy="274320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95097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Inflows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950976"/>
            <a:ext cx="1115568" cy="274320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54296" y="9509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24144" y="950976"/>
            <a:ext cx="1060704" cy="274320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9864" y="95097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(%)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84848" y="950976"/>
            <a:ext cx="1042416" cy="274320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30568" y="95097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827264" y="950976"/>
            <a:ext cx="1024128" cy="274320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72984" y="9509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225296"/>
            <a:ext cx="206654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1225296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 Expansion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40864" y="1225296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86584" y="1225296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1,200,000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0" y="1225296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0440" y="1225296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1,550,000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08576" y="1225296"/>
            <a:ext cx="111556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54296" y="1225296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350,000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24144" y="1225296"/>
            <a:ext cx="106070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69864" y="1225296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8.01%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84848" y="1225296"/>
            <a:ext cx="104241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30568" y="1225296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27264" y="1225296"/>
            <a:ext cx="102412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872984" y="1225296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Growth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1627632"/>
            <a:ext cx="206654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1627632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40864" y="1627632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386584" y="1627632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800,000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0" y="1627632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20440" y="1627632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1,190,000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08576" y="1627632"/>
            <a:ext cx="111556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54296" y="1627632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390,000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24144" y="1627632"/>
            <a:ext cx="106070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9864" y="1627632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13.21%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84848" y="1627632"/>
            <a:ext cx="104241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30568" y="1627632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827264" y="1627632"/>
            <a:ext cx="102412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872984" y="1627632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2029968"/>
            <a:ext cx="206654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2029968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40864" y="2029968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86584" y="2029968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474720" y="2029968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520440" y="2029968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920,000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08576" y="2029968"/>
            <a:ext cx="111556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54296" y="2029968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320,000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724144" y="2029968"/>
            <a:ext cx="106070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769864" y="2029968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14.02%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84848" y="2029968"/>
            <a:ext cx="104241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830568" y="2029968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827264" y="2029968"/>
            <a:ext cx="102412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872984" y="2029968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74320" y="2432304"/>
            <a:ext cx="206654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0040" y="2432304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340864" y="2432304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386584" y="2432304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474720" y="2432304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520440" y="2432304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1,300,000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08576" y="2432304"/>
            <a:ext cx="111556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654296" y="2432304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724144" y="2432304"/>
            <a:ext cx="106070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769864" y="2432304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784848" y="2432304"/>
            <a:ext cx="104241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830568" y="2432304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827264" y="2432304"/>
            <a:ext cx="102412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872984" y="2432304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4320" y="2834640"/>
            <a:ext cx="206654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0040" y="2834640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Automation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340864" y="2834640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386584" y="2834640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700,000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474720" y="2834640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520440" y="2834640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1,020,000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608576" y="2834640"/>
            <a:ext cx="111556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654296" y="2834640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320,000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724144" y="2834640"/>
            <a:ext cx="106070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769864" y="2834640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12.79%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784848" y="2834640"/>
            <a:ext cx="104241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830568" y="2834640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827264" y="2834640"/>
            <a:ext cx="102412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872984" y="2834640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74320" y="3236976"/>
            <a:ext cx="206654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20040" y="3236976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340864" y="3236976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386584" y="3236976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474720" y="3236976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520440" y="3236976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720,000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608576" y="3236976"/>
            <a:ext cx="111556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654296" y="3236976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320,000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5724144" y="3236976"/>
            <a:ext cx="106070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769864" y="3236976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20.35%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784848" y="3236976"/>
            <a:ext cx="104241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830568" y="3236976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827264" y="3236976"/>
            <a:ext cx="102412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872984" y="3236976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4320" y="3639312"/>
            <a:ext cx="206654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20040" y="3639312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Investment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340864" y="3639312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386584" y="3639312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474720" y="3639312"/>
            <a:ext cx="113385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520440" y="3639312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835,000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608576" y="3639312"/>
            <a:ext cx="111556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654296" y="3639312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335,000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724144" y="3639312"/>
            <a:ext cx="1060704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769864" y="3639312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17.31%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6784848" y="3639312"/>
            <a:ext cx="1042416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6830568" y="3639312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7827264" y="3639312"/>
            <a:ext cx="1024128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7872984" y="3639312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74320" y="4041648"/>
            <a:ext cx="206654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320040" y="4041648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340864" y="4041648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2386584" y="4041648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1,500,000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3474720" y="4041648"/>
            <a:ext cx="113385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520440" y="4041648"/>
            <a:ext cx="1042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2,020,000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608576" y="4041648"/>
            <a:ext cx="111556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4654296" y="4041648"/>
            <a:ext cx="1024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520,000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5724144" y="4041648"/>
            <a:ext cx="1060704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5769864" y="4041648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8.47%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784848" y="4041648"/>
            <a:ext cx="1042416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830568" y="4041648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V.High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7827264" y="4041648"/>
            <a:ext cx="1024128" cy="37490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7872984" y="4041648"/>
            <a:ext cx="9326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274320" y="4443984"/>
            <a:ext cx="2066544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320040" y="44439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2340864" y="4443984"/>
            <a:ext cx="1133856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2386584" y="444398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6,700,000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3474720" y="4443984"/>
            <a:ext cx="1133856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520440" y="444398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9,555,000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608576" y="4443984"/>
            <a:ext cx="1115568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654296" y="44439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2,855,000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5724144" y="4443984"/>
            <a:ext cx="1060704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5769864" y="444398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784848" y="4443984"/>
            <a:ext cx="1042416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6830568" y="444398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7827264" y="4443984"/>
            <a:ext cx="1024128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7872984" y="44439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proposals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274320" y="476613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from Python Script 1 (WACC=10%). Investments with IRR &lt; 10% are flagged as below-hurdle in standalone analysis.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Analysis — NPV &amp; IRR Results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1  ·  WACC = 10%  ·  5-year cashflow horizon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417320" cy="219456"/>
          </a:xfrm>
          <a:prstGeom prst="roundRect">
            <a:avLst>
              <a:gd name="adj" fmla="val 37500"/>
            </a:avLst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3270827"/>
            <a:ext cx="5029200" cy="1828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070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by Investment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" y="1719934"/>
            <a:ext cx="411480" cy="1561865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454667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5176" y="153705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96112" y="1921365"/>
            <a:ext cx="411480" cy="1360435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546678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96112" y="1738485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527048" y="2367619"/>
            <a:ext cx="411480" cy="914181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99616" y="452206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27048" y="2184739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157984" y="2399143"/>
            <a:ext cx="411480" cy="882656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21408" y="453321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157984" y="2216263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$72K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88920" y="2606771"/>
            <a:ext cx="411480" cy="675029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52344" y="4512916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788920" y="2423891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19856" y="3281800"/>
            <a:ext cx="411480" cy="843407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451995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419856" y="415263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-$69K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050792" y="3281800"/>
            <a:ext cx="411480" cy="89804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14216" y="4526984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Acq.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050792" y="4207277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-$73K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81728" y="3281800"/>
            <a:ext cx="411480" cy="985321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81728" y="4526984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681728" y="4294553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-$81K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04688" y="914400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vs WACC (10%)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04688" y="1188720"/>
            <a:ext cx="3346704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59552" y="1188720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43216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20.35%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04688" y="1581912"/>
            <a:ext cx="3346704" cy="36576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59552" y="1581912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43216" y="1581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17.31%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04688" y="1975104"/>
            <a:ext cx="3346704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59552" y="1975104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43216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14.02%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04688" y="2368296"/>
            <a:ext cx="3346704" cy="36576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559552" y="2368296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43216" y="2368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13.21%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04688" y="2761488"/>
            <a:ext cx="3346704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59552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43216" y="2761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12.79%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04688" y="3154680"/>
            <a:ext cx="3346704" cy="36576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59552" y="3154680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443216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8.01%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04688" y="3547872"/>
            <a:ext cx="3346704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559552" y="3547872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Strat. Acquisition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443216" y="3547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8.47%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04688" y="3941064"/>
            <a:ext cx="3346704" cy="36576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559552" y="3941064"/>
            <a:ext cx="188366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Geo. Expansion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443216" y="39410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04688" y="4352544"/>
            <a:ext cx="3346704" cy="256032"/>
          </a:xfrm>
          <a:prstGeom prst="roundRect">
            <a:avLst>
              <a:gd name="adj" fmla="val 17857"/>
            </a:avLst>
          </a:prstGeom>
          <a:solidFill>
            <a:srgbClr val="FFF2CC"/>
          </a:solidFill>
          <a:ln w="9525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504688" y="435254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= 10%  ·  5 investments exceed hurdle rate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Capital Allocation KPIs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· NPV per Dollar · Risk-Adjusted NPV  ·  Reveals what raw NPV ranking misses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417320" cy="219456"/>
          </a:xfrm>
          <a:prstGeom prst="roundRect">
            <a:avLst>
              <a:gd name="adj" fmla="val 37500"/>
            </a:avLst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72491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2F5496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Index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Inflows ÷ Cost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389888"/>
            <a:ext cx="2505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&gt; 1.0 = value created. Customer Loyalty leads at 1.319 — $1.32 per dollar. Strategic Acquisition (1.131) is last despite highest raw NPV.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45536" y="914400"/>
            <a:ext cx="272491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1E714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55264" y="9875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per Dollar Invested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55264" y="120700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i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÷ Cost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55264" y="1389888"/>
            <a:ext cx="2505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efficiency. Customer Loyalty delivers $0.319 net per dollar — nearly 3× the portfolio average.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16752" y="914400"/>
            <a:ext cx="272491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C65911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9875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NPV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20700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i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÷ Risk Score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0" y="1389888"/>
            <a:ext cx="2505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Loyalty: $46,977 risk-adjusted despite #7 raw NPV. Strategic Acquisition: negative risk-adjusted despite $197K raw NPV.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Rankings — All 8 Investments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24912"/>
            <a:ext cx="212140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7249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95728" y="2724912"/>
            <a:ext cx="731520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41448" y="27249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27248" y="2724912"/>
            <a:ext cx="69494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72968" y="272491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Rank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22192" y="2724912"/>
            <a:ext cx="69494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67912" y="272491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NPV/$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17136" y="2724912"/>
            <a:ext cx="69494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62856" y="272491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NPV/$ Rank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212080" y="2724912"/>
            <a:ext cx="74980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57800" y="27249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61888" y="2724912"/>
            <a:ext cx="1353312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07608" y="27249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 NPV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15200" y="2724912"/>
            <a:ext cx="621792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60920" y="27249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Rank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2980944"/>
            <a:ext cx="21214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298094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95728" y="2980944"/>
            <a:ext cx="7315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41448" y="29809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27248" y="2980944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72968" y="29809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22192" y="2980944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867912" y="29809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0.319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17136" y="2980944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62856" y="29809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212080" y="2980944"/>
            <a:ext cx="749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57800" y="29809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61888" y="2980944"/>
            <a:ext cx="135331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007608" y="2980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$46,977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15200" y="2980944"/>
            <a:ext cx="62179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60920" y="29809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3218688"/>
            <a:ext cx="21214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0040" y="32186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Investment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395728" y="3218688"/>
            <a:ext cx="731520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441448" y="32186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1.223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127248" y="3218688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172968" y="321868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822192" y="3218688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867912" y="321868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0.223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17136" y="3218688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562856" y="321868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212080" y="3218688"/>
            <a:ext cx="7498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257800" y="32186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961888" y="3218688"/>
            <a:ext cx="135331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007608" y="3218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$26,948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315200" y="3218688"/>
            <a:ext cx="62179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360920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3456432"/>
            <a:ext cx="21214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20040" y="345643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395728" y="3456432"/>
            <a:ext cx="7315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441448" y="34564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127248" y="3456432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172968" y="345643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822192" y="3456432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867912" y="345643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0.120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17136" y="3456432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562856" y="345643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212080" y="3456432"/>
            <a:ext cx="749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257800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961888" y="3456432"/>
            <a:ext cx="135331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007608" y="34564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$16,991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315200" y="3456432"/>
            <a:ext cx="62179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360920" y="34564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4320" y="3694176"/>
            <a:ext cx="21214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20040" y="369417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395728" y="3694176"/>
            <a:ext cx="731520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441448" y="36941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1.094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127248" y="3694176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172968" y="36941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822192" y="3694176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867912" y="36941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0.094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517136" y="3694176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562856" y="36941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212080" y="3694176"/>
            <a:ext cx="7498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257800" y="3694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5.38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961888" y="3694176"/>
            <a:ext cx="135331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007608" y="36941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$13,914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315200" y="3694176"/>
            <a:ext cx="62179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7360920" y="36941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74320" y="3931920"/>
            <a:ext cx="21214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320040" y="393192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Automation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395728" y="3931920"/>
            <a:ext cx="7315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2441448" y="3931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1.079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3127248" y="3931920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172968" y="393192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822192" y="3931920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867912" y="393192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517136" y="3931920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562856" y="393192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212080" y="3931920"/>
            <a:ext cx="749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257800" y="39319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5961888" y="3931920"/>
            <a:ext cx="135331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007608" y="39319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$12,623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315200" y="3931920"/>
            <a:ext cx="62179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360920" y="39319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74320" y="4169664"/>
            <a:ext cx="21214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20040" y="416966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 Expansion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2395728" y="4169664"/>
            <a:ext cx="731520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2441448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127248" y="4169664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172968" y="416966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3822192" y="4169664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3867912" y="416966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-0.057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517136" y="4169664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4562856" y="416966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5212080" y="4169664"/>
            <a:ext cx="7498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5257800" y="41696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961888" y="4169664"/>
            <a:ext cx="135331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6007608" y="41696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-$8,762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7315200" y="4169664"/>
            <a:ext cx="62179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7360920" y="4169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274320" y="4407408"/>
            <a:ext cx="21214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320040" y="440740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2395728" y="4407408"/>
            <a:ext cx="7315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2441448" y="44074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3127248" y="4407408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3172968" y="440740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3822192" y="4407408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3867912" y="440740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-0.049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4517136" y="4407408"/>
            <a:ext cx="69494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4562856" y="440740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5212080" y="4407408"/>
            <a:ext cx="749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5257800" y="44074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961888" y="4407408"/>
            <a:ext cx="135331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6007608" y="440740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-$7,347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7315200" y="4407408"/>
            <a:ext cx="621792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7360920" y="44074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274320" y="4645152"/>
            <a:ext cx="21214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320040" y="464515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2395728" y="4645152"/>
            <a:ext cx="731520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2441448" y="4645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3127248" y="4645152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3172968" y="464515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822192" y="4645152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3867912" y="464515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-0.081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4517136" y="4645152"/>
            <a:ext cx="694944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4562856" y="464515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5212080" y="4645152"/>
            <a:ext cx="749808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5257800" y="4645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7.12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5961888" y="4645152"/>
            <a:ext cx="135331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6007608" y="46451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-$10,236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7315200" y="4645152"/>
            <a:ext cx="621792" cy="21945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7360920" y="46451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00" dirty="0"/>
          </a:p>
        </p:txBody>
      </p:sp>
      <p:sp>
        <p:nvSpPr>
          <p:cNvPr id="165" name="Text 163"/>
          <p:cNvSpPr/>
          <p:nvPr/>
        </p:nvSpPr>
        <p:spPr>
          <a:xfrm>
            <a:off x="4256883" y="2551176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NPV = NPV ÷ Composite Risk Score. Negative = raw NPV insufficient to compensate risk.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— Composite Scoring Model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3  ·  40% Volatility + 30% Capital + 30% Payback  ·  Score 1–10  ·  1 = Safest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417320" cy="219456"/>
          </a:xfrm>
          <a:prstGeom prst="roundRect">
            <a:avLst>
              <a:gd name="adj" fmla="val 37500"/>
            </a:avLst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-112471" y="125167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29826" y="1286490"/>
            <a:ext cx="393192" cy="237744"/>
          </a:xfrm>
          <a:prstGeom prst="roundRect">
            <a:avLst>
              <a:gd name="adj" fmla="val 15385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3075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-112471" y="1645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18220" y="1699729"/>
            <a:ext cx="1093074" cy="237744"/>
          </a:xfrm>
          <a:prstGeom prst="roundRect">
            <a:avLst>
              <a:gd name="adj" fmla="val 15385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48722" y="17282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-112471" y="2067599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32382" y="2127738"/>
            <a:ext cx="1124529" cy="237744"/>
          </a:xfrm>
          <a:prstGeom prst="roundRect">
            <a:avLst>
              <a:gd name="adj" fmla="val 15385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80177" y="21488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-100851" y="249666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32382" y="2548362"/>
            <a:ext cx="1277874" cy="237744"/>
          </a:xfrm>
          <a:prstGeom prst="roundRect">
            <a:avLst>
              <a:gd name="adj" fmla="val 15385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33522" y="256946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-112471" y="291060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429826" y="2968986"/>
            <a:ext cx="1604223" cy="237744"/>
          </a:xfrm>
          <a:prstGeom prst="roundRect">
            <a:avLst>
              <a:gd name="adj" fmla="val 15385"/>
            </a:avLst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9871" y="2990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-100851" y="333545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18572" y="3374136"/>
            <a:ext cx="2685501" cy="237744"/>
          </a:xfrm>
          <a:prstGeom prst="roundRect">
            <a:avLst>
              <a:gd name="adj" fmla="val 15385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41149" y="34107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-112471" y="3734797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Geo. Expand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418572" y="3779286"/>
            <a:ext cx="2799527" cy="237744"/>
          </a:xfrm>
          <a:prstGeom prst="roundRect">
            <a:avLst>
              <a:gd name="adj" fmla="val 15385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55175" y="383133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-100851" y="4164389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Strat. Acq.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29826" y="4223473"/>
            <a:ext cx="3931920" cy="237744"/>
          </a:xfrm>
          <a:prstGeom prst="roundRect">
            <a:avLst>
              <a:gd name="adj" fmla="val 15385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87568" y="425196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719072" y="4773168"/>
            <a:ext cx="182880" cy="128016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956816" y="47731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(&lt;3.5)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999232" y="4773168"/>
            <a:ext cx="182880" cy="128016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36976" y="47731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(3.5–6.5)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0016" y="4773168"/>
            <a:ext cx="182880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47731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(&gt;6.5)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486400" y="91440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P(NPV &gt; 0)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0" y="1261872"/>
            <a:ext cx="3108960" cy="256032"/>
          </a:xfrm>
          <a:prstGeom prst="roundRect">
            <a:avLst>
              <a:gd name="adj" fmla="val 14286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0" y="1261872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631936" y="126187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0" y="1682496"/>
            <a:ext cx="3071652" cy="256032"/>
          </a:xfrm>
          <a:prstGeom prst="roundRect">
            <a:avLst>
              <a:gd name="adj" fmla="val 14286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0" y="1682496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94628" y="1682496"/>
            <a:ext cx="4579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0" y="2103120"/>
            <a:ext cx="2916204" cy="256032"/>
          </a:xfrm>
          <a:prstGeom prst="roundRect">
            <a:avLst>
              <a:gd name="adj" fmla="val 14286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0" y="2103120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39180" y="210312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0" y="2523744"/>
            <a:ext cx="2826045" cy="256032"/>
          </a:xfrm>
          <a:prstGeom prst="roundRect">
            <a:avLst>
              <a:gd name="adj" fmla="val 14286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86400" y="2523744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349021" y="252374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0" y="2944368"/>
            <a:ext cx="2633289" cy="256032"/>
          </a:xfrm>
          <a:prstGeom prst="roundRect">
            <a:avLst>
              <a:gd name="adj" fmla="val 14286"/>
            </a:avLst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86400" y="2944368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56265" y="294436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0" y="3364992"/>
            <a:ext cx="1140988" cy="256032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86400" y="3364992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Strat. Acq.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63964" y="336499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486400" y="3785616"/>
            <a:ext cx="848746" cy="256032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486400" y="3785616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71722" y="378561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4206240"/>
            <a:ext cx="727497" cy="256032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86400" y="4206240"/>
            <a:ext cx="153619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Geo. Expand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50473" y="420624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— 40,000 Total Runs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2  ·  5,000 simulations per investment  ·  Investment-specific volatility  ·  P(NPV&gt;0) ranked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417320" cy="219456"/>
          </a:xfrm>
          <a:prstGeom prst="roundRect">
            <a:avLst>
              <a:gd name="adj" fmla="val 37500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969264"/>
            <a:ext cx="201168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486266"/>
            <a:ext cx="201168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Simulations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95728" y="914400"/>
            <a:ext cx="2011680" cy="969264"/>
          </a:xfrm>
          <a:prstGeom prst="roundRect">
            <a:avLst>
              <a:gd name="adj" fmla="val 7547"/>
            </a:avLst>
          </a:prstGeom>
          <a:solidFill>
            <a:srgbClr val="1E7145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95728" y="969264"/>
            <a:ext cx="201168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95728" y="1486266"/>
            <a:ext cx="201168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P(NPV&gt;0) — Customer Loyalty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17136" y="914400"/>
            <a:ext cx="2011680" cy="969264"/>
          </a:xfrm>
          <a:prstGeom prst="roundRect">
            <a:avLst>
              <a:gd name="adj" fmla="val 7547"/>
            </a:avLst>
          </a:prstGeom>
          <a:solidFill>
            <a:srgbClr val="C00000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17136" y="969264"/>
            <a:ext cx="201168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17136" y="1486266"/>
            <a:ext cx="201168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P(NPV&gt;0) — Geo. Expansion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38544" y="914400"/>
            <a:ext cx="2011680" cy="969264"/>
          </a:xfrm>
          <a:prstGeom prst="roundRect">
            <a:avLst>
              <a:gd name="adj" fmla="val 7547"/>
            </a:avLst>
          </a:prstGeom>
          <a:solidFill>
            <a:srgbClr val="2F5496"/>
          </a:solidFill>
          <a:ln/>
          <a:effectLst>
            <a:outerShdw blurRad="508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38544" y="969264"/>
            <a:ext cx="201168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38544" y="1486266"/>
            <a:ext cx="201168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Range by Risk Tier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011680"/>
            <a:ext cx="224942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0116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23744" y="2011680"/>
            <a:ext cx="768096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9464" y="201168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91840" y="2011680"/>
            <a:ext cx="84124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2011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NPV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33088" y="2011680"/>
            <a:ext cx="84124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78808" y="2011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74336" y="2011680"/>
            <a:ext cx="914400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0056" y="2011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P(NPV&gt;0)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88736" y="2011680"/>
            <a:ext cx="93268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34456" y="20116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21424" y="2011680"/>
            <a:ext cx="111556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67144" y="20116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267712"/>
            <a:ext cx="2249424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267712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23744" y="2267712"/>
            <a:ext cx="768096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9464" y="226771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91840" y="2267712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37560" y="2267712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$128,065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33088" y="2267712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78808" y="2267712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$23,611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74336" y="2267712"/>
            <a:ext cx="91440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0056" y="226771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88736" y="2267712"/>
            <a:ext cx="93268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34456" y="226771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Safe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21424" y="2267712"/>
            <a:ext cx="111556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67144" y="2267712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2578608"/>
            <a:ext cx="2249424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2578608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Investment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23744" y="2578608"/>
            <a:ext cx="768096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569464" y="2578608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91840" y="2578608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337560" y="2578608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$111,161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33088" y="2578608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78808" y="2578608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$48,486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74336" y="2578608"/>
            <a:ext cx="914400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0056" y="257860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888736" y="2578608"/>
            <a:ext cx="93268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934456" y="2578608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Safe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21424" y="2578608"/>
            <a:ext cx="111556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867144" y="257860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74320" y="2889504"/>
            <a:ext cx="2249424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0040" y="2889504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23744" y="2889504"/>
            <a:ext cx="768096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569464" y="2889504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91840" y="2889504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337560" y="28895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$72,581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133088" y="2889504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178808" y="28895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$46,588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974336" y="2889504"/>
            <a:ext cx="91440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020056" y="288950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88736" y="2889504"/>
            <a:ext cx="93268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934456" y="2889504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821424" y="2889504"/>
            <a:ext cx="111556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867144" y="2889504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4320" y="3200400"/>
            <a:ext cx="2249424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0040" y="3200400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Automation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523744" y="3200400"/>
            <a:ext cx="768096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569464" y="3200400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91840" y="3200400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337560" y="3200400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$55,429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133088" y="3200400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178808" y="3200400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$40,813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974336" y="3200400"/>
            <a:ext cx="914400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020056" y="320040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88736" y="3200400"/>
            <a:ext cx="93268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934456" y="3200400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821424" y="3200400"/>
            <a:ext cx="111556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867144" y="32004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74320" y="3511296"/>
            <a:ext cx="2249424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20040" y="3511296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523744" y="3511296"/>
            <a:ext cx="768096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569464" y="3511296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291840" y="3511296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337560" y="3511296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$74,535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133088" y="3511296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178808" y="3511296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$72,122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974336" y="3511296"/>
            <a:ext cx="91440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020056" y="351129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888736" y="3511296"/>
            <a:ext cx="93268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934456" y="3511296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821424" y="3511296"/>
            <a:ext cx="111556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867144" y="35112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4320" y="3822192"/>
            <a:ext cx="2249424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20040" y="3822192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523744" y="3822192"/>
            <a:ext cx="768096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569464" y="382219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291840" y="3822192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337560" y="3822192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-$73,253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133088" y="3822192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178808" y="3822192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$210,913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974336" y="3822192"/>
            <a:ext cx="914400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020056" y="382219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888736" y="3822192"/>
            <a:ext cx="93268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934456" y="382219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6821424" y="3822192"/>
            <a:ext cx="111556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6867144" y="3822192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74320" y="4133088"/>
            <a:ext cx="2249424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320040" y="4133088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 Expansion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523744" y="4133088"/>
            <a:ext cx="768096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2569464" y="4133088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3291840" y="4133088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337560" y="4133088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-$69,108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133088" y="4133088"/>
            <a:ext cx="84124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4178808" y="4133088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$110,961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974336" y="4133088"/>
            <a:ext cx="91440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5020056" y="413308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888736" y="4133088"/>
            <a:ext cx="93268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5934456" y="4133088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821424" y="4133088"/>
            <a:ext cx="1115568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6867144" y="413308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274320" y="4443984"/>
            <a:ext cx="2249424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320040" y="4443984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2523744" y="4443984"/>
            <a:ext cx="768096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2569464" y="4443984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3291840" y="4443984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337560" y="444398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-$80,154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133088" y="4443984"/>
            <a:ext cx="84124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178808" y="444398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$110,491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4974336" y="4443984"/>
            <a:ext cx="914400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5020056" y="444398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5888736" y="4443984"/>
            <a:ext cx="93268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5934456" y="4443984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821424" y="4443984"/>
            <a:ext cx="1115568" cy="283464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6867144" y="4443984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9D728A2-53AE-A46B-EBA8-E75F6005AED2}"/>
              </a:ext>
            </a:extLst>
          </p:cNvPr>
          <p:cNvSpPr txBox="1"/>
          <p:nvPr/>
        </p:nvSpPr>
        <p:spPr>
          <a:xfrm>
            <a:off x="274320" y="4727448"/>
            <a:ext cx="88134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Portfolio NPV ($738,950) reflects the </a:t>
            </a:r>
            <a:r>
              <a:rPr lang="en-US" sz="800" dirty="0" err="1"/>
              <a:t>optimisation</a:t>
            </a:r>
            <a:r>
              <a:rPr lang="en-US" sz="800" dirty="0"/>
              <a:t> model output and should not be compared directly to the sum of standalone project NPVs.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 — Brute-Force Result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4  ·  255 combinations tested  ·  $5M constraint  ·  Mathematical optimum guaranteed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417320" cy="219456"/>
          </a:xfrm>
          <a:prstGeom prst="roundRect">
            <a:avLst>
              <a:gd name="adj" fmla="val 37500"/>
            </a:avLst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3712464" cy="1042416"/>
          </a:xfrm>
          <a:prstGeom prst="roundRect">
            <a:avLst>
              <a:gd name="adj" fmla="val 7895"/>
            </a:avLst>
          </a:prstGeom>
          <a:solidFill>
            <a:srgbClr val="FDEC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424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NPV Ranking (Sub-Optimal)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243584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$684,820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4048" y="1700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NPV ranking — leaves $54,130 on the table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47488" y="987552"/>
            <a:ext cx="3803904" cy="1042416"/>
          </a:xfrm>
          <a:prstGeom prst="roundRect">
            <a:avLst>
              <a:gd name="adj" fmla="val 7895"/>
            </a:avLst>
          </a:prstGeom>
          <a:solidFill>
            <a:srgbClr val="E2EFDA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57216" y="1042416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Optimal (Maximum Value)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57216" y="1243584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$738,950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57216" y="170078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combinations — guaranteed mathematical maximum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58768" y="1115568"/>
            <a:ext cx="1097280" cy="768096"/>
          </a:xfrm>
          <a:prstGeom prst="roundRect">
            <a:avLst>
              <a:gd name="adj" fmla="val 10714"/>
            </a:avLst>
          </a:prstGeom>
          <a:solidFill>
            <a:srgbClr val="FFF2CC"/>
          </a:solidFill>
          <a:ln w="12700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58768" y="111556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$54,130 gain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76272"/>
            <a:ext cx="1956816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17627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31136" y="2176272"/>
            <a:ext cx="1133856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76856" y="217627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Include?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64992" y="2176272"/>
            <a:ext cx="1042416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0712" y="217627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($)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07408" y="2176272"/>
            <a:ext cx="102412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53128" y="21762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($)*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31536" y="2176272"/>
            <a:ext cx="102412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77256" y="21762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(%)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55664" y="2176272"/>
            <a:ext cx="102412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01384" y="21762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79792" y="2176272"/>
            <a:ext cx="1371600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25512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Share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432304"/>
            <a:ext cx="19568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243230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31136" y="2432304"/>
            <a:ext cx="113385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76856" y="2432304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64992" y="2432304"/>
            <a:ext cx="10424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10712" y="2432304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800,000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07408" y="2432304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53128" y="243230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122,440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31536" y="2432304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77256" y="243230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13.21%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55664" y="2432304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01384" y="243230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79792" y="2432304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525512" y="24323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2779776"/>
            <a:ext cx="1956816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2779776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31136" y="2779776"/>
            <a:ext cx="1133856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276856" y="2779776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364992" y="2779776"/>
            <a:ext cx="1042416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10712" y="2779776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407408" y="2779776"/>
            <a:ext cx="1024128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453128" y="2779776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141,260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31536" y="2779776"/>
            <a:ext cx="1024128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77256" y="2779776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55664" y="2779776"/>
            <a:ext cx="1024128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01384" y="2779776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79792" y="2779776"/>
            <a:ext cx="1371600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525512" y="27797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" y="3127248"/>
            <a:ext cx="19568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0040" y="312724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Automation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231136" y="3127248"/>
            <a:ext cx="113385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276856" y="3127248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364992" y="3127248"/>
            <a:ext cx="10424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410712" y="3127248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700,000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407408" y="3127248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453128" y="3127248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93,640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431536" y="3127248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477256" y="3127248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12.79%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55664" y="3127248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01384" y="3127248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479792" y="3127248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525512" y="3127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3474720"/>
            <a:ext cx="1956816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0040" y="34747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231136" y="3474720"/>
            <a:ext cx="1133856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276856" y="347472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364992" y="3474720"/>
            <a:ext cx="1042416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410712" y="347472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407408" y="3474720"/>
            <a:ext cx="1024128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453128" y="34747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88,950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431536" y="3474720"/>
            <a:ext cx="1024128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477256" y="34747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22.10%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455664" y="3474720"/>
            <a:ext cx="1024128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501384" y="34747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479792" y="3474720"/>
            <a:ext cx="1371600" cy="32004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525512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74320" y="3822192"/>
            <a:ext cx="19568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20040" y="3822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231136" y="3822192"/>
            <a:ext cx="113385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276856" y="3822192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364992" y="3822192"/>
            <a:ext cx="10424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410712" y="3822192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1,500,000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407408" y="3822192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453128" y="3822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197,350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431536" y="3822192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477256" y="3822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8.47%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455664" y="3822192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501384" y="3822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479792" y="382219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525512" y="3822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74320" y="4169664"/>
            <a:ext cx="19568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320040" y="416966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 / Product / Mobile App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231136" y="4169664"/>
            <a:ext cx="113385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2276856" y="4169664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3364992" y="4169664"/>
            <a:ext cx="104241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3410712" y="4169664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407408" y="4169664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453128" y="416966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431536" y="4169664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5477256" y="416966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455664" y="4169664"/>
            <a:ext cx="102412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501384" y="416966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479792" y="4169664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7525512" y="41696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274320" y="4517136"/>
            <a:ext cx="1956816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320040" y="451713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TOTAL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231136" y="4517136"/>
            <a:ext cx="1133856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276856" y="451713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projects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364992" y="4517136"/>
            <a:ext cx="1042416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3410712" y="451713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4,400,000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407408" y="4517136"/>
            <a:ext cx="1024128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453128" y="451713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643,640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431536" y="4517136"/>
            <a:ext cx="1024128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5477256" y="451713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12.80% avg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455664" y="4517136"/>
            <a:ext cx="1024128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6501384" y="451713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5.27 avg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7479792" y="4517136"/>
            <a:ext cx="1371600" cy="274320"/>
          </a:xfrm>
          <a:prstGeom prst="rect">
            <a:avLst/>
          </a:prstGeom>
          <a:solidFill>
            <a:srgbClr val="2F5496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7525512" y="4517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used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274320" y="4718304"/>
            <a:ext cx="2609557" cy="16459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64008" y="4718304"/>
            <a:ext cx="2857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2740322" y="4718304"/>
            <a:ext cx="1953491" cy="164592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3" name="Text 131"/>
          <p:cNvSpPr/>
          <p:nvPr/>
        </p:nvSpPr>
        <p:spPr>
          <a:xfrm>
            <a:off x="2784700" y="4718304"/>
            <a:ext cx="18803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1.0M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4572000" y="4718304"/>
            <a:ext cx="1562793" cy="164592"/>
          </a:xfrm>
          <a:prstGeom prst="rect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4640995" y="4709160"/>
            <a:ext cx="14896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0.8M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6134793" y="4718304"/>
            <a:ext cx="1367444" cy="164592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7" name="Text 135"/>
          <p:cNvSpPr/>
          <p:nvPr/>
        </p:nvSpPr>
        <p:spPr>
          <a:xfrm>
            <a:off x="6122899" y="4724634"/>
            <a:ext cx="12942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0.7M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7502237" y="4718304"/>
            <a:ext cx="781396" cy="164592"/>
          </a:xfrm>
          <a:prstGeom prst="rect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7525512" y="4709160"/>
            <a:ext cx="7082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0.4M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8283633" y="4718304"/>
            <a:ext cx="567759" cy="164592"/>
          </a:xfrm>
          <a:prstGeom prst="rect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8165592" y="4709160"/>
            <a:ext cx="7082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0.4M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274320" y="4901184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*NPV values from Script 4 internal model. Brute-force portfolio total = $738,950. Script 4 uses slightly different cashflow weighting than Script 1.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Rationale — Why These 5 Investments Form the Optimal Mix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inclusion and exclusion explained  ·  No alternative combination beats $738,950 within $5M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50976"/>
            <a:ext cx="157276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509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47088" y="950976"/>
            <a:ext cx="87782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92808" y="9509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24912" y="950976"/>
            <a:ext cx="69494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70632" y="95097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19856" y="950976"/>
            <a:ext cx="69494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5576" y="95097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0" y="950976"/>
            <a:ext cx="69494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60520" y="95097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9744" y="950976"/>
            <a:ext cx="4041648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55464" y="95097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/ Logic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07008"/>
            <a:ext cx="857707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120700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92808" y="1243584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E2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92808" y="124358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70632" y="120700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$74,789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65576" y="120700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13.21%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60520" y="120700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55464" y="1207008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WACC. 84.7% P(NPV&gt;0). Capital-efficient ($0.094 NPV/$). Digital growth driver.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1645920"/>
            <a:ext cx="8577072" cy="41148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16459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92808" y="1682496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E2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92808" y="168249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70632" y="164592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$141,260*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65576" y="164592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60520" y="164592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55464" y="1645920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 Script 4 NPV. IRR below WACC on Script 1 but optimiser confirms it is the best use of $1M in the full portfolio. Inclusion is necessary for mathematical maximum.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084832"/>
            <a:ext cx="857707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08483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Automation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92808" y="2121408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E2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892808" y="212140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70632" y="208483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$55,224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65576" y="208483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12.79%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60520" y="208483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55464" y="2084832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low-risk operations investment. 90.9% Monte Carlo confidence. Consistent cashflows across all scenarios.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2523744"/>
            <a:ext cx="8577072" cy="41148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" y="2523744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92808" y="2560320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E2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92808" y="25603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70632" y="2523744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$127,776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465576" y="2523744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20.35%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160520" y="2523744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55464" y="2523744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IRR, lowest risk, #1 PI, #1 NPV/$, #1 risk-adjusted NPV. Most capital-efficient investment in the pipeline.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2962656"/>
            <a:ext cx="857707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0040" y="2962656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92808" y="2999232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E2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892808" y="29992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70632" y="2962656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$197,350*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465576" y="2962656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8.47%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60520" y="2962656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55464" y="2962656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NPV contribution in Script 4 model. Despite max risk score, its NPV magnitude is irreplaceable. Recommendation: phase funding — 50% upfront, 50% conditional on Q1 milestones.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4320" y="3401568"/>
            <a:ext cx="8577072" cy="41148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340156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 Expansion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892808" y="3438144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892808" y="343814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770632" y="340156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-$68,999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465576" y="340156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8.01%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160520" y="340156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855464" y="3401568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NPV. Destroys shareholder value at WACC=10%. Only 27.3% probability of positive NPV outcome.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74320" y="3840480"/>
            <a:ext cx="857707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20040" y="3840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892808" y="3877056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892808" y="387705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770632" y="384048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$72,210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465576" y="384048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14.02%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160520" y="384048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855464" y="3840480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standalone metrics but crowded out by higher-NPV investments within the budget constraint. Revisit FY2025.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4279392"/>
            <a:ext cx="8577072" cy="411480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0040" y="42793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Investment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892808" y="4315968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892808" y="431596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770632" y="427939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$111,297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465576" y="427939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17.31%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160520" y="427939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855464" y="4279392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standalone economics (IRR 17.31%, 98.8% P&gt;0, risk 2.78). Excluded solely due to portfolio optimisation and capital constraints. Priority addition FY2027.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74320" y="47548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*Script 4 NPV values used for portfolio decision. Script 1 NPVs used for standalone ranking.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Scenario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stress-tested  ·  All 3 scenarios generate positive NPV  ·  Robust at −10% revenue AND 12% WACC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95097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Outcomes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078992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1188720"/>
            <a:ext cx="987552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99032" y="11887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Mult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40864" y="1188720"/>
            <a:ext cx="96926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86584" y="118872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NPV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10128" y="1188720"/>
            <a:ext cx="1627632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188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444752"/>
            <a:ext cx="1078992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444752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53312" y="1444752"/>
            <a:ext cx="987552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99032" y="144475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40864" y="1444752"/>
            <a:ext cx="969264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86584" y="1444752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$450,548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10128" y="1444752"/>
            <a:ext cx="1627632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5848" y="1444752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1810512"/>
            <a:ext cx="1078992" cy="338328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1810512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53312" y="1810512"/>
            <a:ext cx="987552" cy="338328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99032" y="181051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40864" y="1810512"/>
            <a:ext cx="969264" cy="338328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86584" y="1810512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$643,640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10128" y="1810512"/>
            <a:ext cx="1627632" cy="338328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55848" y="1810512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✓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176272"/>
            <a:ext cx="1078992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2176272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353312" y="2176272"/>
            <a:ext cx="987552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99032" y="217627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40864" y="2176272"/>
            <a:ext cx="969264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386584" y="2176272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$836,732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10128" y="2176272"/>
            <a:ext cx="1627632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55848" y="2176272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Buy 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257860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Sensitivity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2816352"/>
            <a:ext cx="1170432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2816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444752" y="2816352"/>
            <a:ext cx="1152144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490472" y="28163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Change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96896" y="2816352"/>
            <a:ext cx="1627632" cy="256032"/>
          </a:xfrm>
          <a:prstGeom prst="rect">
            <a:avLst/>
          </a:prstGeom>
          <a:solidFill>
            <a:srgbClr val="1E2761"/>
          </a:solidFill>
          <a:ln w="5080">
            <a:solidFill>
              <a:srgbClr val="2F4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42616" y="28163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072384"/>
            <a:ext cx="11704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30723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(Favourable)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44752" y="3072384"/>
            <a:ext cx="1152144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90472" y="307238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+~$48K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96896" y="3072384"/>
            <a:ext cx="16276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42616" y="307238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3410712"/>
            <a:ext cx="1170432" cy="31089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0040" y="34107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(Base)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444752" y="3410712"/>
            <a:ext cx="1152144" cy="31089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490472" y="341071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$643,640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596896" y="3410712"/>
            <a:ext cx="1627632" cy="310896"/>
          </a:xfrm>
          <a:prstGeom prst="rect">
            <a:avLst/>
          </a:prstGeom>
          <a:solidFill>
            <a:srgbClr val="EAF1FB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42616" y="34107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3749040"/>
            <a:ext cx="11704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37490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(Stress)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444752" y="3749040"/>
            <a:ext cx="1152144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490472" y="374904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positive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596896" y="3749040"/>
            <a:ext cx="16276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642616" y="374904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65176" y="4425696"/>
            <a:ext cx="4242816" cy="36576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 w="9525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74904" y="4425696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NPV remains positive at −10% revenue AND 12% WACC simultaneously.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663440" y="95097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Scenario Planning Page</a:t>
            </a:r>
            <a:endParaRPr lang="en-US" sz="800" dirty="0"/>
          </a:p>
        </p:txBody>
      </p:sp>
      <p:pic>
        <p:nvPicPr>
          <p:cNvPr id="67" name="Image 0" descr="/mnt/user-data/uploads/powerbi_p5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78169"/>
            <a:ext cx="4178808" cy="3291840"/>
          </a:xfrm>
          <a:prstGeom prst="rect">
            <a:avLst/>
          </a:prstGeom>
        </p:spPr>
      </p:pic>
      <p:sp>
        <p:nvSpPr>
          <p:cNvPr id="68" name="Shape 65"/>
          <p:cNvSpPr/>
          <p:nvPr/>
        </p:nvSpPr>
        <p:spPr>
          <a:xfrm>
            <a:off x="4663440" y="1170432"/>
            <a:ext cx="4178808" cy="3291840"/>
          </a:xfrm>
          <a:prstGeom prst="rect">
            <a:avLst/>
          </a:prstGeom>
          <a:ln w="9525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 Layer — Database Architecture &amp; Business Queries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 ·  3 tables  ·  7 business queries  ·  Independently validates Python output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417320" cy="219456"/>
          </a:xfrm>
          <a:prstGeom prst="roundRect">
            <a:avLst>
              <a:gd name="adj" fmla="val 37500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225296"/>
            <a:ext cx="2633472" cy="340156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2468880" cy="804672"/>
          </a:xfrm>
          <a:prstGeom prst="roundRect">
            <a:avLst>
              <a:gd name="adj" fmla="val 7955"/>
            </a:avLst>
          </a:prstGeom>
          <a:solidFill>
            <a:srgbClr val="EAF1FB"/>
          </a:solidFill>
          <a:ln w="9525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name  ·  cost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yr1–yr5 cashflows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risk_level  ·  category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79576" y="2405575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inv_id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2468880" cy="804672"/>
          </a:xfrm>
          <a:prstGeom prst="roundRect">
            <a:avLst>
              <a:gd name="adj" fmla="val 7955"/>
            </a:avLst>
          </a:prstGeom>
          <a:solidFill>
            <a:srgbClr val="E2EFDA"/>
          </a:solidFill>
          <a:ln w="9525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financial_metrics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7977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inv_id (FK)  ·  npv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 ·  payback  ·  pi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npv_per_dollar  ·  decision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79576" y="334811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inv_id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3493008"/>
            <a:ext cx="2468880" cy="804672"/>
          </a:xfrm>
          <a:prstGeom prst="roundRect">
            <a:avLst>
              <a:gd name="adj" fmla="val 7955"/>
            </a:avLst>
          </a:prstGeom>
          <a:solidFill>
            <a:srgbClr val="FFF2CC"/>
          </a:solidFill>
          <a:ln w="9525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73075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inv_id (FK)  ·  vol_score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capital_score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payback_score  ·  composite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17520" y="914400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NPV/IRR/PI/Risk-Adj Ranked</a:t>
            </a:r>
            <a:endParaRPr lang="en-US" sz="800" dirty="0"/>
          </a:p>
        </p:txBody>
      </p:sp>
      <p:pic>
        <p:nvPicPr>
          <p:cNvPr id="22" name="Image 0" descr="/mnt/user-data/uploads/sql_quer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33856"/>
            <a:ext cx="2779776" cy="217627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017520" y="1133856"/>
            <a:ext cx="2779776" cy="2176272"/>
          </a:xfrm>
          <a:prstGeom prst="rect">
            <a:avLst/>
          </a:prstGeom>
          <a:ln w="9525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0" y="91440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— Risk-Adjusted Analysis</a:t>
            </a:r>
            <a:endParaRPr lang="en-US" sz="800" dirty="0"/>
          </a:p>
        </p:txBody>
      </p:sp>
      <p:pic>
        <p:nvPicPr>
          <p:cNvPr id="25" name="Image 1" descr="/mnt/user-data/uploads/sql_query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133856"/>
            <a:ext cx="2889504" cy="217627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943600" y="1133856"/>
            <a:ext cx="2889504" cy="2176272"/>
          </a:xfrm>
          <a:prstGeom prst="rect">
            <a:avLst/>
          </a:prstGeom>
          <a:ln w="9525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017520" y="3419856"/>
            <a:ext cx="5815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Business Queries: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017520" y="3639312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 w="635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072384" y="3639312"/>
            <a:ext cx="17007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Investment pipeline overview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4919472" y="3639312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974336" y="3639312"/>
            <a:ext cx="17007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NPV/IRR/PI/Risk-Adj ranked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6821424" y="3639312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 w="635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876288" y="3639312"/>
            <a:ext cx="17007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Capital constraint greedy analysis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017520" y="4041648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3072384" y="4041648"/>
            <a:ext cx="17007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Risk-adjusted investment analysis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919472" y="4041648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4974336" y="4041648"/>
            <a:ext cx="17007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Bear/Base/Bull scenarios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6821424" y="4041648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876288" y="4041648"/>
            <a:ext cx="17007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Portfolio optimisation result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017520" y="4443984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 w="6350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3072384" y="4443984"/>
            <a:ext cx="17007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Executive CFO one-query summary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Analytics Engine — Four-Script Pipeline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1–4: DCF → Risk Scoring → Monte Carlo → Portfolio Optimisation  ·  40,000 simulations  ·  255 combinations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417320" cy="219456"/>
          </a:xfrm>
          <a:prstGeom prst="roundRect">
            <a:avLst>
              <a:gd name="adj" fmla="val 37500"/>
            </a:avLst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4 SCRIPTS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F5496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435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 — DCF &amp; Advanced KPIs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IRR, PI, NPV/$, Risk-Adj NPV for all 8</a:t>
            </a:r>
            <a:endParaRPr lang="en-US" sz="750" dirty="0"/>
          </a:p>
        </p:txBody>
      </p:sp>
      <p:pic>
        <p:nvPicPr>
          <p:cNvPr id="11" name="Image 0" descr="/mnt/user-data/uploads/dcf_comparison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2768"/>
            <a:ext cx="4023360" cy="1371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760" y="1572768"/>
            <a:ext cx="4023360" cy="1371600"/>
          </a:xfrm>
          <a:prstGeom prst="rect">
            <a:avLst/>
          </a:prstGeom>
          <a:ln w="9525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E7145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0" y="12435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 — Monte Carlo Simulation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54880" y="140817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sims × 8 = 40,000 total · P(NPV&gt;0) ranked</a:t>
            </a:r>
            <a:endParaRPr lang="en-US" sz="750" dirty="0"/>
          </a:p>
        </p:txBody>
      </p:sp>
      <p:pic>
        <p:nvPicPr>
          <p:cNvPr id="16" name="Image 1" descr="/mnt/user-data/uploads/monte_carlo_histog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72768"/>
            <a:ext cx="4023360" cy="1371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54880" y="1572768"/>
            <a:ext cx="4023360" cy="1371600"/>
          </a:xfrm>
          <a:prstGeom prst="rect">
            <a:avLst/>
          </a:prstGeom>
          <a:ln w="9525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74320" y="3072384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65911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65760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 — Composite Risk Scoring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65760" y="32918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Vol + 30% Capital + 30% Payback · Score 1–10</a:t>
            </a:r>
            <a:endParaRPr lang="en-US" sz="750" dirty="0"/>
          </a:p>
        </p:txBody>
      </p:sp>
      <p:pic>
        <p:nvPicPr>
          <p:cNvPr id="21" name="Image 2" descr="/mnt/user-data/uploads/python_script3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456432"/>
            <a:ext cx="4023360" cy="1371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65760" y="3456432"/>
            <a:ext cx="4023360" cy="1371600"/>
          </a:xfrm>
          <a:prstGeom prst="rect">
            <a:avLst/>
          </a:prstGeom>
          <a:ln w="9525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663440" y="3072384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754880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4 — Portfolio Optimiser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754880" y="32918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combinations · Greedy vs Brute-Force · $738,950 optimal</a:t>
            </a:r>
            <a:endParaRPr lang="en-US" sz="750" dirty="0"/>
          </a:p>
        </p:txBody>
      </p:sp>
      <p:pic>
        <p:nvPicPr>
          <p:cNvPr id="26" name="Image 3" descr="/mnt/user-data/uploads/optimal_portfolio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456432"/>
            <a:ext cx="4023360" cy="13716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754880" y="3456432"/>
            <a:ext cx="4023360" cy="1371600"/>
          </a:xfrm>
          <a:prstGeom prst="rect">
            <a:avLst/>
          </a:prstGeom>
          <a:ln w="9525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 Suite — 5 Pages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management reporting  ·  Live Excel + Python CSV data  ·  Filterable by Risk Level and Category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435" y="8255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Executive Summary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4215" y="261542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· NPV chart · Scorecard table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118410" y="8255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Investment Comparison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644148" y="2593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· Combo chart · Scatter plot · Payback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118385" y="8255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Risk Analysis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644081" y="2593200"/>
            <a:ext cx="2408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· Composite bars · Monte Carlo · Donut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1603526" y="28093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Portfolio Optimisation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2185068" y="4631605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· Pie · NPV bars · Greedy vs Optimal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671702" y="280849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— Scenario Planning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5173989" y="4640261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Bear/Base/Bull chart · Table · WACC sensitivity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274320" y="4946904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— Board Review Draft</a:t>
            </a:r>
            <a:endParaRPr lang="en-US" sz="7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0B613EF-E1D1-3CA5-5E12-D4B092434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5" y="1008468"/>
            <a:ext cx="2909346" cy="163709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C277C82-21F8-143C-A976-97D6FD90A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368" y="997152"/>
            <a:ext cx="2907180" cy="16267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98C73AD-D77E-7D7A-B5E9-55F15B078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289" y="1005801"/>
            <a:ext cx="2907180" cy="16313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354F18D-7D52-606A-A3D1-CEE187FBF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3526" y="2995536"/>
            <a:ext cx="2909344" cy="16447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A1F652F-6115-ECFB-B266-BC07DA49A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702" y="2984640"/>
            <a:ext cx="2893366" cy="16427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44368"/>
            <a:ext cx="9144000" cy="2199132"/>
          </a:xfrm>
          <a:prstGeom prst="rect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RECOMMENDATION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34747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$4,400,000 across 5 investments.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NPV: $738,950  ·  Budget: 88% utilised  ·  255 combinations tested  ·  40,000 Monte Carlo runs  ·  Avg risk: 5.27/10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042416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152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11556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 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4081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E-Commerce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95728" y="14081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0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140817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13.21%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0352" y="166420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Geographic Expansion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95728" y="166420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0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16642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$141K NPV*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192024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Warehouse Automation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95728" y="192024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0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192024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2.86 — Low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" y="217627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Customer Loyalty Prog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95728" y="21762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0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217627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20.35% — Best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24323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Strategic Acquisition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95728" y="243230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0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243230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$197K NPV* — Largest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52544" y="1042416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2D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62272" y="111556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 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140817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Store Expansion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140817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NPV (-$68,999). Destroys value at WACC=10%.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056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Product 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91072" y="182880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metrics but crowded out. Revisit FY2025.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80560" y="22494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 App Investment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1072" y="224942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standalone economics (IRR 17.31%, P&gt;0=98.8%). Excluded due to portfolio optimisation and capital constraints. FY2027 priority.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299923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CREATED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3200400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$738,950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384048" y="365760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Present Value  ·  Verified by brute-force optimisation across 255 combinations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393192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" y="4169664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63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" y="4407408"/>
            <a:ext cx="162763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 2026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103120" y="4169664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63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0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03120" y="4407408"/>
            <a:ext cx="162763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22192" y="4169664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63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22192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22192" y="4407408"/>
            <a:ext cx="162763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KPI review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41264" y="4169664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63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41264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41264" y="4407408"/>
            <a:ext cx="162763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reforecast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260336" y="4169664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63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60336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260336" y="4407408"/>
            <a:ext cx="162763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+$111K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84048" y="4974336"/>
            <a:ext cx="8375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Strategic Finance  ·  FY2024  ·  Srushti Mahant Pawar  ·  Confidential  ·  Board Review Draft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2792</Words>
  <Application>Microsoft Office PowerPoint</Application>
  <PresentationFormat>On-screen Show (16:9)</PresentationFormat>
  <Paragraphs>690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RetailCo Strategic Capital Allocation &amp; Portfolio Optimisation</dc:title>
  <dc:subject>PptxGenJS Presentation</dc:subject>
  <dc:creator>Srushti Mahant Pawar</dc:creator>
  <cp:lastModifiedBy>Pawar, Srushti Mahant</cp:lastModifiedBy>
  <cp:revision>4</cp:revision>
  <dcterms:created xsi:type="dcterms:W3CDTF">2026-06-11T04:43:27Z</dcterms:created>
  <dcterms:modified xsi:type="dcterms:W3CDTF">2026-06-11T05:53:40Z</dcterms:modified>
</cp:coreProperties>
</file>